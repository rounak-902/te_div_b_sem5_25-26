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753600" cy="7315200"/>
  <p:notesSz cx="6858000" cy="9144000"/>
  <p:embeddedFontLst>
    <p:embeddedFont>
      <p:font typeface="Times New Roman MT Bold" charset="1" panose="02030802070405020303"/>
      <p:regular r:id="rId22"/>
    </p:embeddedFont>
    <p:embeddedFont>
      <p:font typeface="Times New Roman MT" charset="1" panose="020305020704050203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notesSlides/notesSlide11.xml" Type="http://schemas.openxmlformats.org/officeDocument/2006/relationships/notesSlide"/><Relationship Id="rId37" Target="notesSlides/notesSlide12.xml" Type="http://schemas.openxmlformats.org/officeDocument/2006/relationships/notesSlide"/><Relationship Id="rId38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9.jpeg" Type="http://schemas.openxmlformats.org/officeDocument/2006/relationships/image"/><Relationship Id="rId6" Target="../media/VAG1UoTV1rI.mp4" Type="http://schemas.openxmlformats.org/officeDocument/2006/relationships/video"/><Relationship Id="rId7" Target="../media/VAG1UoTV1rI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https://arxiv.org/abs/2303.13439" TargetMode="External" Type="http://schemas.openxmlformats.org/officeDocument/2006/relationships/hyperlink"/><Relationship Id="rId6" Target="https://arxiv.org/abs/2210.02303" TargetMode="External" Type="http://schemas.openxmlformats.org/officeDocument/2006/relationships/hyperlink"/><Relationship Id="rId7" Target="https://reelmind.ai/blog/ai-generated-wedding-videos-the-future-of-videography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381" y="1676318"/>
            <a:ext cx="9790758" cy="24762"/>
            <a:chOff x="0" y="0"/>
            <a:chExt cx="13054343" cy="330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54330" cy="33020"/>
            </a:xfrm>
            <a:custGeom>
              <a:avLst/>
              <a:gdLst/>
              <a:ahLst/>
              <a:cxnLst/>
              <a:rect r="r" b="b" t="t" l="l"/>
              <a:pathLst>
                <a:path h="33020" w="13054330">
                  <a:moveTo>
                    <a:pt x="16510" y="0"/>
                  </a:moveTo>
                  <a:lnTo>
                    <a:pt x="13037820" y="0"/>
                  </a:lnTo>
                  <a:cubicBezTo>
                    <a:pt x="13046963" y="0"/>
                    <a:pt x="13054330" y="7366"/>
                    <a:pt x="13054330" y="16510"/>
                  </a:cubicBezTo>
                  <a:cubicBezTo>
                    <a:pt x="13054330" y="25654"/>
                    <a:pt x="13046963" y="33020"/>
                    <a:pt x="13037820" y="33020"/>
                  </a:cubicBezTo>
                  <a:lnTo>
                    <a:pt x="16510" y="33020"/>
                  </a:lnTo>
                  <a:cubicBezTo>
                    <a:pt x="7366" y="33020"/>
                    <a:pt x="0" y="25654"/>
                    <a:pt x="0" y="16510"/>
                  </a:cubicBezTo>
                  <a:cubicBezTo>
                    <a:pt x="0" y="7366"/>
                    <a:pt x="7366" y="0"/>
                    <a:pt x="1651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36677" y="173683"/>
            <a:ext cx="7465222" cy="1328778"/>
          </a:xfrm>
          <a:custGeom>
            <a:avLst/>
            <a:gdLst/>
            <a:ahLst/>
            <a:cxnLst/>
            <a:rect r="r" b="b" t="t" l="l"/>
            <a:pathLst>
              <a:path h="1328778" w="7465222">
                <a:moveTo>
                  <a:pt x="0" y="0"/>
                </a:moveTo>
                <a:lnTo>
                  <a:pt x="7465221" y="0"/>
                </a:lnTo>
                <a:lnTo>
                  <a:pt x="7465221" y="1328778"/>
                </a:lnTo>
                <a:lnTo>
                  <a:pt x="0" y="1328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582" r="0" b="-1958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5902" y="2597015"/>
            <a:ext cx="5321796" cy="237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Soham Shelke - 23106044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Atharva Tawde - 23106122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Atharva Samant-23106057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Raunak Panigrahi - 23106092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2997" y="5310952"/>
            <a:ext cx="3707606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Guide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Jaya Gupta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Academic year 2025-26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0896" y="1830740"/>
            <a:ext cx="7691808" cy="67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Based Pre-Wedding Video Generator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8962" y="139853"/>
            <a:ext cx="8787722" cy="1024310"/>
            <a:chOff x="0" y="0"/>
            <a:chExt cx="11716963" cy="13657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365747"/>
            </a:xfrm>
            <a:custGeom>
              <a:avLst/>
              <a:gdLst/>
              <a:ahLst/>
              <a:cxnLst/>
              <a:rect r="r" b="b" t="t" l="l"/>
              <a:pathLst>
                <a:path h="1365747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365747"/>
                  </a:lnTo>
                  <a:lnTo>
                    <a:pt x="0" y="1365747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403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Outline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8962" y="1038258"/>
            <a:ext cx="9032552" cy="367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6390" indent="-188195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  <a:p>
            <a:pPr algn="just" marL="376192" indent="-188096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Literature Survey of the Existing Systems</a:t>
            </a:r>
          </a:p>
          <a:p>
            <a:pPr algn="just" marL="376390" indent="-188195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 </a:t>
            </a:r>
          </a:p>
          <a:p>
            <a:pPr algn="just" marL="376390" indent="-188195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System Design</a:t>
            </a:r>
          </a:p>
          <a:p>
            <a:pPr algn="just" marL="376192" indent="-188096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Technologies and Methodologies</a:t>
            </a:r>
          </a:p>
          <a:p>
            <a:pPr algn="just" marL="376390" indent="-188195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 </a:t>
            </a:r>
          </a:p>
          <a:p>
            <a:pPr algn="just" marL="376390" indent="-188195" lvl="1">
              <a:lnSpc>
                <a:spcPts val="4185"/>
              </a:lnSpc>
              <a:buFont typeface="Arial"/>
              <a:buChar char="•"/>
            </a:pPr>
            <a:r>
              <a:rPr lang="en-US" b="true" sz="2325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292261"/>
            <a:ext cx="8787722" cy="872449"/>
            <a:chOff x="0" y="0"/>
            <a:chExt cx="11716963" cy="11632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163266"/>
            </a:xfrm>
            <a:custGeom>
              <a:avLst/>
              <a:gdLst/>
              <a:ahLst/>
              <a:cxnLst/>
              <a:rect r="r" b="b" t="t" l="l"/>
              <a:pathLst>
                <a:path h="1163266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163266"/>
                  </a:lnTo>
                  <a:lnTo>
                    <a:pt x="0" y="116326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716963" cy="1210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40"/>
                </a:lnSpc>
              </a:pPr>
              <a:r>
                <a:rPr lang="en-US" b="true" sz="3800" spc="-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Introduction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0028" y="1050411"/>
            <a:ext cx="7505216" cy="528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Pre-wedding videos are a popular way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for couples to showcase their journey before marriage.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here’s a growing demand for</a:t>
            </a:r>
            <a:r>
              <a:rPr lang="en-US" b="true" sz="24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creative and personalized digital content.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any couples face challenges like: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production costs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Time constraints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Lack of technical skills or access to professionals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aims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leverage </a:t>
            </a:r>
            <a:r>
              <a:rPr lang="en-US" b="true" sz="24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AI-driven automation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simplify and enhance pre-wedding video generation.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364" y="419748"/>
            <a:ext cx="7337985" cy="603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Motivation:-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Many couples desire cinematic pre-wedding videos but face budget limitations.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AI now enables automated creation of visuals, music, and voiceovers.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 demand for personalized, story-driven content inspired by couples' unique journeys.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Objectives:-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evelop an AI-based system to generate pre-wedding videos.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Make high-quality video production more accessible, creative, and cost-effective.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0348" y="438984"/>
            <a:ext cx="703751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-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1520" y="2193701"/>
            <a:ext cx="7037163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73887" indent="-186944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design and implement a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AI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driven solu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tion for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automated, personalized, and cost-effective pre-wedding video g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eneration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1409" y="63661"/>
            <a:ext cx="8787722" cy="788372"/>
            <a:chOff x="0" y="0"/>
            <a:chExt cx="11716963" cy="10511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051163"/>
            </a:xfrm>
            <a:custGeom>
              <a:avLst/>
              <a:gdLst/>
              <a:ahLst/>
              <a:cxnLst/>
              <a:rect r="r" b="b" t="t" l="l"/>
              <a:pathLst>
                <a:path h="1051163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051163"/>
                  </a:lnTo>
                  <a:lnTo>
                    <a:pt x="0" y="1051163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089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4"/>
                </a:lnSpc>
              </a:pPr>
              <a:r>
                <a:rPr lang="en-US" b="true" sz="3399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Literature Survey of the Existing System</a:t>
              </a:r>
            </a:p>
          </p:txBody>
        </p:sp>
      </p:grpSp>
      <p:graphicFrame>
        <p:nvGraphicFramePr>
          <p:cNvPr name="Object 6" id="6"/>
          <p:cNvGraphicFramePr/>
          <p:nvPr/>
        </p:nvGraphicFramePr>
        <p:xfrm>
          <a:off x="461706" y="852033"/>
          <a:ext cx="7543800" cy="2514600"/>
        </p:xfrm>
        <a:graphic>
          <a:graphicData uri="http://schemas.openxmlformats.org/presentationml/2006/ole">
            <p:oleObj imgW="9042400" imgH="4013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4358" y="357114"/>
            <a:ext cx="8787722" cy="748812"/>
            <a:chOff x="0" y="0"/>
            <a:chExt cx="11716963" cy="9984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998416"/>
            </a:xfrm>
            <a:custGeom>
              <a:avLst/>
              <a:gdLst/>
              <a:ahLst/>
              <a:cxnLst/>
              <a:rect r="r" b="b" t="t" l="l"/>
              <a:pathLst>
                <a:path h="998416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998416"/>
                  </a:lnTo>
                  <a:lnTo>
                    <a:pt x="0" y="998416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0365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System Architecture &amp; Workflow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28439" y="982594"/>
            <a:ext cx="5296722" cy="6137472"/>
          </a:xfrm>
          <a:custGeom>
            <a:avLst/>
            <a:gdLst/>
            <a:ahLst/>
            <a:cxnLst/>
            <a:rect r="r" b="b" t="t" l="l"/>
            <a:pathLst>
              <a:path h="6137472" w="5296722">
                <a:moveTo>
                  <a:pt x="0" y="0"/>
                </a:moveTo>
                <a:lnTo>
                  <a:pt x="5296722" y="0"/>
                </a:lnTo>
                <a:lnTo>
                  <a:pt x="5296722" y="6137472"/>
                </a:lnTo>
                <a:lnTo>
                  <a:pt x="0" y="61374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72518"/>
            <a:ext cx="8787722" cy="1222755"/>
            <a:chOff x="0" y="0"/>
            <a:chExt cx="11716963" cy="1630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630340"/>
            </a:xfrm>
            <a:custGeom>
              <a:avLst/>
              <a:gdLst/>
              <a:ahLst/>
              <a:cxnLst/>
              <a:rect r="r" b="b" t="t" l="l"/>
              <a:pathLst>
                <a:path h="1630340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630340"/>
                  </a:lnTo>
                  <a:lnTo>
                    <a:pt x="0" y="163034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66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94"/>
                </a:lnSpc>
              </a:pPr>
              <a:r>
                <a:rPr lang="en-US" b="true" sz="3399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Technologies and Methodologies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8335" y="733425"/>
            <a:ext cx="7374342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0"/>
              </a:lnSpc>
            </a:pPr>
          </a:p>
          <a:p>
            <a:pPr algn="just" marL="221996" indent="-110998" lvl="1">
              <a:lnSpc>
                <a:spcPts val="227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Frontend:</a:t>
            </a:r>
          </a:p>
          <a:p>
            <a:pPr algn="just" marL="820419" indent="-273473" lvl="2">
              <a:lnSpc>
                <a:spcPts val="2279"/>
              </a:lnSpc>
              <a:buAutoNum type="alphaLcPeriod" startAt="1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Gradio Web Interface</a:t>
            </a:r>
          </a:p>
          <a:p>
            <a:pPr algn="just" marL="221996" indent="-110998" lvl="1">
              <a:lnSpc>
                <a:spcPts val="227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Backend &amp; Processing:</a:t>
            </a:r>
          </a:p>
          <a:p>
            <a:pPr algn="just" marL="820419" indent="-273473" lvl="2">
              <a:lnSpc>
                <a:spcPts val="2279"/>
              </a:lnSpc>
              <a:buAutoNum type="alphaLcPeriod" startAt="1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Runtime: Python 3.x</a:t>
            </a:r>
          </a:p>
          <a:p>
            <a:pPr algn="just" marL="820419" indent="-273473" lvl="2">
              <a:lnSpc>
                <a:spcPts val="2279"/>
              </a:lnSpc>
              <a:buAutoNum type="alphaLcPeriod" startAt="1"/>
            </a:pPr>
            <a:r>
              <a:rPr lang="en-US" sz="1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Web Framework: Gradio built-in server</a:t>
            </a:r>
          </a:p>
          <a:p>
            <a:pPr algn="just" marL="820419" indent="-273473" lvl="2">
              <a:lnSpc>
                <a:spcPts val="2279"/>
              </a:lnSpc>
              <a:buAutoNum type="alphaLcPeriod" startAt="1"/>
            </a:pPr>
            <a:r>
              <a:rPr lang="en-US" sz="18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GPU Acceleration: CUDA with PyTorch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7567" y="2889751"/>
            <a:ext cx="6976078" cy="378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b="true" sz="1900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AIML tech stack:-</a:t>
            </a:r>
          </a:p>
          <a:p>
            <a:pPr algn="l" marL="410213" indent="-205106" lvl="1">
              <a:lnSpc>
                <a:spcPts val="2120"/>
              </a:lnSpc>
              <a:buFont typeface="Arial"/>
              <a:buChar char="•"/>
            </a:pPr>
            <a:r>
              <a:rPr lang="en-US" b="true" sz="1900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Core Models:</a:t>
            </a:r>
          </a:p>
          <a:p>
            <a:pPr algn="l" marL="820425" indent="-273475" lvl="2">
              <a:lnSpc>
                <a:spcPts val="2120"/>
              </a:lnSpc>
              <a:buFont typeface="Arial"/>
              <a:buChar char="⚬"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FLUX.1 (for image gen)</a:t>
            </a:r>
          </a:p>
          <a:p>
            <a:pPr algn="l" marL="820425" indent="-273475" lvl="2">
              <a:lnSpc>
                <a:spcPts val="2120"/>
              </a:lnSpc>
              <a:buFont typeface="Arial"/>
              <a:buChar char="⚬"/>
            </a:pPr>
            <a:r>
              <a:rPr lang="en-US" sz="1900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W.A.N 2.2 (for video gen)</a:t>
            </a:r>
          </a:p>
          <a:p>
            <a:pPr algn="l">
              <a:lnSpc>
                <a:spcPts val="2120"/>
              </a:lnSpc>
            </a:pPr>
          </a:p>
          <a:p>
            <a:pPr algn="l" marL="410213" indent="-205106" lvl="1">
              <a:lnSpc>
                <a:spcPts val="2120"/>
              </a:lnSpc>
              <a:buFont typeface="Arial"/>
              <a:buChar char="•"/>
            </a:pPr>
            <a:r>
              <a:rPr lang="en-US" b="true" sz="1900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Libraries:</a:t>
            </a:r>
          </a:p>
          <a:p>
            <a:pPr algn="l" marL="820425" indent="-273475" lvl="2">
              <a:lnSpc>
                <a:spcPts val="2120"/>
              </a:lnSpc>
              <a:buFont typeface="Arial"/>
              <a:buChar char="⚬"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PyTorch</a:t>
            </a:r>
          </a:p>
          <a:p>
            <a:pPr algn="l" marL="820425" indent="-273475" lvl="2">
              <a:lnSpc>
                <a:spcPts val="2120"/>
              </a:lnSpc>
              <a:buFont typeface="Arial"/>
              <a:buChar char="⚬"/>
            </a:pP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Hugging Face diffusers</a:t>
            </a:r>
          </a:p>
          <a:p>
            <a:pPr algn="l">
              <a:lnSpc>
                <a:spcPts val="2120"/>
              </a:lnSpc>
            </a:pPr>
          </a:p>
          <a:p>
            <a:pPr algn="l">
              <a:lnSpc>
                <a:spcPts val="2120"/>
              </a:lnSpc>
            </a:pPr>
            <a:r>
              <a:rPr lang="en-US" b="true" sz="19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Minimum Requirements</a:t>
            </a:r>
          </a:p>
          <a:p>
            <a:pPr algn="l" marL="410213" indent="-205106" lvl="1">
              <a:lnSpc>
                <a:spcPts val="2120"/>
              </a:lnSpc>
              <a:buFont typeface="Arial"/>
              <a:buChar char="•"/>
            </a:pPr>
            <a:r>
              <a:rPr lang="en-US" b="true" sz="19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GPU: </a:t>
            </a:r>
            <a:r>
              <a:rPr lang="en-US" sz="1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NVIDIA GPU with 16GB+ VRAM (e.g., RTX 3090/4090)</a:t>
            </a:r>
          </a:p>
          <a:p>
            <a:pPr algn="l" marL="410213" indent="-205106" lvl="1">
              <a:lnSpc>
                <a:spcPts val="2120"/>
              </a:lnSpc>
              <a:buFont typeface="Arial"/>
              <a:buChar char="•"/>
            </a:pPr>
            <a:r>
              <a:rPr lang="en-US" b="true" sz="1900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Software: </a:t>
            </a:r>
            <a:r>
              <a:rPr lang="en-US" sz="1900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Python 3.10+, CUDA</a:t>
            </a:r>
          </a:p>
          <a:p>
            <a:pPr algn="l">
              <a:lnSpc>
                <a:spcPts val="21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72518"/>
            <a:ext cx="8787722" cy="839158"/>
            <a:chOff x="0" y="0"/>
            <a:chExt cx="11716963" cy="11188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118878"/>
            </a:xfrm>
            <a:custGeom>
              <a:avLst/>
              <a:gdLst/>
              <a:ahLst/>
              <a:cxnLst/>
              <a:rect r="r" b="b" t="t" l="l"/>
              <a:pathLst>
                <a:path h="1118878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118878"/>
                  </a:lnTo>
                  <a:lnTo>
                    <a:pt x="0" y="1118878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716963" cy="116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63"/>
                </a:lnSpc>
              </a:pPr>
              <a:r>
                <a:rPr lang="en-US" b="true" sz="3999" spc="-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Implementation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87567" y="1178376"/>
            <a:ext cx="8613495" cy="4224386"/>
          </a:xfrm>
          <a:custGeom>
            <a:avLst/>
            <a:gdLst/>
            <a:ahLst/>
            <a:cxnLst/>
            <a:rect r="r" b="b" t="t" l="l"/>
            <a:pathLst>
              <a:path h="4224386" w="8613495">
                <a:moveTo>
                  <a:pt x="0" y="0"/>
                </a:moveTo>
                <a:lnTo>
                  <a:pt x="8613496" y="0"/>
                </a:lnTo>
                <a:lnTo>
                  <a:pt x="8613496" y="4224386"/>
                </a:lnTo>
                <a:lnTo>
                  <a:pt x="0" y="4224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4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8473" y="5635002"/>
            <a:ext cx="5900269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b="true" sz="3487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LoRA training pipeline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72518"/>
            <a:ext cx="8787722" cy="839158"/>
            <a:chOff x="0" y="0"/>
            <a:chExt cx="11716963" cy="11188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118878"/>
            </a:xfrm>
            <a:custGeom>
              <a:avLst/>
              <a:gdLst/>
              <a:ahLst/>
              <a:cxnLst/>
              <a:rect r="r" b="b" t="t" l="l"/>
              <a:pathLst>
                <a:path h="1118878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118878"/>
                  </a:lnTo>
                  <a:lnTo>
                    <a:pt x="0" y="1118878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716963" cy="116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63"/>
                </a:lnSpc>
              </a:pPr>
              <a:r>
                <a:rPr lang="en-US" b="true" sz="3999" spc="-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Implementation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87567" y="911676"/>
            <a:ext cx="8534513" cy="4725986"/>
          </a:xfrm>
          <a:custGeom>
            <a:avLst/>
            <a:gdLst/>
            <a:ahLst/>
            <a:cxnLst/>
            <a:rect r="r" b="b" t="t" l="l"/>
            <a:pathLst>
              <a:path h="4725986" w="8534513">
                <a:moveTo>
                  <a:pt x="0" y="0"/>
                </a:moveTo>
                <a:lnTo>
                  <a:pt x="8534513" y="0"/>
                </a:lnTo>
                <a:lnTo>
                  <a:pt x="8534513" y="4725986"/>
                </a:lnTo>
                <a:lnTo>
                  <a:pt x="0" y="47259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4689" y="5829634"/>
            <a:ext cx="5900269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b="true" sz="3487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Image Generation Pipeline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72518"/>
            <a:ext cx="8787722" cy="839158"/>
            <a:chOff x="0" y="0"/>
            <a:chExt cx="11716963" cy="11188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118878"/>
            </a:xfrm>
            <a:custGeom>
              <a:avLst/>
              <a:gdLst/>
              <a:ahLst/>
              <a:cxnLst/>
              <a:rect r="r" b="b" t="t" l="l"/>
              <a:pathLst>
                <a:path h="1118878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118878"/>
                  </a:lnTo>
                  <a:lnTo>
                    <a:pt x="0" y="1118878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716963" cy="116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63"/>
                </a:lnSpc>
              </a:pPr>
              <a:r>
                <a:rPr lang="en-US" b="true" sz="3999" spc="-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Implementation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87567" y="1008587"/>
            <a:ext cx="8905995" cy="4664515"/>
          </a:xfrm>
          <a:custGeom>
            <a:avLst/>
            <a:gdLst/>
            <a:ahLst/>
            <a:cxnLst/>
            <a:rect r="r" b="b" t="t" l="l"/>
            <a:pathLst>
              <a:path h="4664515" w="8905995">
                <a:moveTo>
                  <a:pt x="0" y="0"/>
                </a:moveTo>
                <a:lnTo>
                  <a:pt x="8905995" y="0"/>
                </a:lnTo>
                <a:lnTo>
                  <a:pt x="8905995" y="4664515"/>
                </a:lnTo>
                <a:lnTo>
                  <a:pt x="0" y="46645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26665" y="5730252"/>
            <a:ext cx="5900269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b="true" sz="3487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Video Generation Pipeline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72518"/>
            <a:ext cx="8787722" cy="839158"/>
            <a:chOff x="0" y="0"/>
            <a:chExt cx="11716963" cy="11188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118878"/>
            </a:xfrm>
            <a:custGeom>
              <a:avLst/>
              <a:gdLst/>
              <a:ahLst/>
              <a:cxnLst/>
              <a:rect r="r" b="b" t="t" l="l"/>
              <a:pathLst>
                <a:path h="1118878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118878"/>
                  </a:lnTo>
                  <a:lnTo>
                    <a:pt x="0" y="1118878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716963" cy="1166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63"/>
                </a:lnSpc>
              </a:pPr>
              <a:r>
                <a:rPr lang="en-US" b="true" sz="3999" spc="-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Implementation</a:t>
              </a: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0" b="0"/>
          <a:stretch>
            <a:fillRect/>
          </a:stretch>
        </p:blipFill>
        <p:spPr>
          <a:xfrm flipH="false" flipV="false" rot="0">
            <a:off x="1931670" y="731520"/>
            <a:ext cx="5852160" cy="585216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02611" y="6545580"/>
            <a:ext cx="5900269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2"/>
              </a:lnSpc>
              <a:spcBef>
                <a:spcPct val="0"/>
              </a:spcBef>
            </a:pPr>
            <a:r>
              <a:rPr lang="en-US" b="true" sz="3487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Video Output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292261"/>
            <a:ext cx="8787722" cy="1222755"/>
            <a:chOff x="0" y="0"/>
            <a:chExt cx="11716963" cy="1630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630340"/>
            </a:xfrm>
            <a:custGeom>
              <a:avLst/>
              <a:gdLst/>
              <a:ahLst/>
              <a:cxnLst/>
              <a:rect r="r" b="b" t="t" l="l"/>
              <a:pathLst>
                <a:path h="1630340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630340"/>
                  </a:lnTo>
                  <a:lnTo>
                    <a:pt x="0" y="163034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66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Conclusion 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7092" y="1456677"/>
            <a:ext cx="8021284" cy="436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124"/>
              </a:lnSpc>
              <a:buFont typeface="Arial"/>
              <a:buChar char="•"/>
            </a:pP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project aims to revolutionize pre-wedding video creation using 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AI-powered automation.</a:t>
            </a:r>
          </a:p>
          <a:p>
            <a:pPr algn="just" marL="604519" indent="-302260" lvl="1">
              <a:lnSpc>
                <a:spcPts val="3124"/>
              </a:lnSpc>
              <a:buFont typeface="Arial"/>
              <a:buChar char="•"/>
            </a:pP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By combining 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story-driven inputs</a:t>
            </a: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with 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generative media tools</a:t>
            </a: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we enable couples to create personalized, cinematic videos with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minimal effort and cost.</a:t>
            </a:r>
          </a:p>
          <a:p>
            <a:pPr algn="just" marL="604519" indent="-302260" lvl="1">
              <a:lnSpc>
                <a:spcPts val="3124"/>
              </a:lnSpc>
              <a:buFont typeface="Arial"/>
              <a:buChar char="•"/>
            </a:pP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system addresses key challenges in the current market and opens up new possibilities for 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creative, accessible, and emotion-rich storytelling.</a:t>
            </a:r>
          </a:p>
          <a:p>
            <a:pPr algn="just" marL="604519" indent="-302260" lvl="1">
              <a:lnSpc>
                <a:spcPts val="3124"/>
              </a:lnSpc>
              <a:buFont typeface="Arial"/>
              <a:buChar char="•"/>
            </a:pPr>
            <a:r>
              <a:rPr lang="en-US" sz="27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lays the foundation for the future of </a:t>
            </a:r>
            <a:r>
              <a:rPr lang="en-US" b="true" sz="2799" spc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AI in personalized video content generation.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87567" y="292261"/>
            <a:ext cx="8025293" cy="1222755"/>
            <a:chOff x="0" y="0"/>
            <a:chExt cx="10700390" cy="1630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700390" cy="1630340"/>
            </a:xfrm>
            <a:custGeom>
              <a:avLst/>
              <a:gdLst/>
              <a:ahLst/>
              <a:cxnLst/>
              <a:rect r="r" b="b" t="t" l="l"/>
              <a:pathLst>
                <a:path h="1630340" w="10700390">
                  <a:moveTo>
                    <a:pt x="0" y="0"/>
                  </a:moveTo>
                  <a:lnTo>
                    <a:pt x="10700390" y="0"/>
                  </a:lnTo>
                  <a:lnTo>
                    <a:pt x="10700390" y="1630340"/>
                  </a:lnTo>
                  <a:lnTo>
                    <a:pt x="0" y="163034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0700390" cy="166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Future Ideas (To be Completed in Semester 6 – by May 2026)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87567" y="2029778"/>
            <a:ext cx="7538434" cy="322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78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Integrate all pipelines into a single, unified system.</a:t>
            </a:r>
          </a:p>
          <a:p>
            <a:pPr algn="l" marL="539749" indent="-269875" lvl="1">
              <a:lnSpc>
                <a:spcPts val="278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 a user-friendly UI with multiple wedding and pre-wedding options.</a:t>
            </a:r>
          </a:p>
          <a:p>
            <a:pPr algn="l" marL="539749" indent="-269875" lvl="1">
              <a:lnSpc>
                <a:spcPts val="278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image captioning accuracy and context understanding.</a:t>
            </a:r>
          </a:p>
          <a:p>
            <a:pPr algn="l" marL="539749" indent="-269875" lvl="1">
              <a:lnSpc>
                <a:spcPts val="278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Enhance face consistency and recognition across photos and videos.</a:t>
            </a:r>
          </a:p>
          <a:p>
            <a:pPr algn="l" marL="539749" indent="-269875" lvl="1">
              <a:lnSpc>
                <a:spcPts val="2789"/>
              </a:lnSpc>
              <a:buFont typeface="Arial"/>
              <a:buChar char="•"/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system performance and scalability for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4358" y="-9068"/>
            <a:ext cx="8787722" cy="1222755"/>
            <a:chOff x="0" y="0"/>
            <a:chExt cx="11716963" cy="1630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630340"/>
            </a:xfrm>
            <a:custGeom>
              <a:avLst/>
              <a:gdLst/>
              <a:ahLst/>
              <a:cxnLst/>
              <a:rect r="r" b="b" t="t" l="l"/>
              <a:pathLst>
                <a:path h="1630340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630340"/>
                  </a:lnTo>
                  <a:lnTo>
                    <a:pt x="0" y="163034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66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4358" y="943287"/>
            <a:ext cx="9404942" cy="5034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78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Khachatryan, L., Movsisyan, A., Tadevosyan, V., Henschel, R., Wang, Z., Navasardyan, S., &amp; Shi, H.</a:t>
            </a:r>
          </a:p>
          <a:p>
            <a:pPr algn="l">
              <a:lnSpc>
                <a:spcPts val="2789"/>
              </a:lnSpc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Text2Video-Zero: Text-to-Image Diffusion Models are Zero-Shot   </a:t>
            </a:r>
          </a:p>
          <a:p>
            <a:pPr algn="l">
              <a:lnSpc>
                <a:spcPts val="2789"/>
              </a:lnSpc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Video Generators.  arXiv preprint arXiv:2303.13439, 2023.   </a:t>
            </a:r>
          </a:p>
          <a:p>
            <a:pPr algn="l">
              <a:lnSpc>
                <a:spcPts val="2232"/>
              </a:lnSpc>
            </a:pPr>
            <a:r>
              <a:rPr lang="en-US" sz="2000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000" spc="0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5" tooltip="https://arxiv.org/abs/2303.13439"/>
              </a:rPr>
              <a:t>https://arxiv.org/abs/2303.13439</a:t>
            </a:r>
          </a:p>
          <a:p>
            <a:pPr algn="l">
              <a:lnSpc>
                <a:spcPts val="2789"/>
              </a:lnSpc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2. </a:t>
            </a: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Ho, J., Chan, W., Saharia, C., Whang, J., Gao, R., Gritsenko, A.,  </a:t>
            </a:r>
          </a:p>
          <a:p>
            <a:pPr algn="l">
              <a:lnSpc>
                <a:spcPts val="2789"/>
              </a:lnSpc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... &amp; Salimans, T.</a:t>
            </a:r>
          </a:p>
          <a:p>
            <a:pPr algn="l">
              <a:lnSpc>
                <a:spcPts val="2789"/>
              </a:lnSpc>
            </a:pPr>
            <a:r>
              <a:rPr lang="en-US" sz="2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Imagen Video: High Definition Video Generation with Diffusion </a:t>
            </a:r>
          </a:p>
          <a:p>
            <a:pPr algn="l">
              <a:lnSpc>
                <a:spcPts val="2789"/>
              </a:lnSpc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Models.  arXiv preprint arXiv:2210.02303, 2022.</a:t>
            </a:r>
          </a:p>
          <a:p>
            <a:pPr algn="l">
              <a:lnSpc>
                <a:spcPts val="2232"/>
              </a:lnSpc>
            </a:pPr>
            <a:r>
              <a:rPr lang="en-US" sz="2000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</a:t>
            </a:r>
            <a:r>
              <a:rPr lang="en-US" sz="2000" spc="0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6" tooltip="https://arxiv.org/abs/2210.02303"/>
              </a:rPr>
              <a:t> https://arxiv.org/abs/2210.02303</a:t>
            </a:r>
          </a:p>
          <a:p>
            <a:pPr algn="l">
              <a:lnSpc>
                <a:spcPts val="2789"/>
              </a:lnSpc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3. </a:t>
            </a: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Reelmind.ai Editorial Team.</a:t>
            </a:r>
          </a:p>
          <a:p>
            <a:pPr algn="l">
              <a:lnSpc>
                <a:spcPts val="2789"/>
              </a:lnSpc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AI-Generated Wedding Videos: The Future of Videography.</a:t>
            </a:r>
          </a:p>
          <a:p>
            <a:pPr algn="l">
              <a:lnSpc>
                <a:spcPts val="2789"/>
              </a:lnSpc>
            </a:pPr>
            <a:r>
              <a:rPr lang="en-US" sz="2499" spc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Reelmind Blog, 2025.</a:t>
            </a:r>
          </a:p>
          <a:p>
            <a:pPr algn="l">
              <a:lnSpc>
                <a:spcPts val="2232"/>
              </a:lnSpc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</a:t>
            </a:r>
            <a:r>
              <a:rPr lang="en-US" sz="2000" u="sng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7" tooltip="https://reelmind.ai/blog/ai-generated-wedding-videos-the-future-of-videography"/>
              </a:rPr>
              <a:t>https://reelmind.ai/blog/ai-generated-wedding-videos-the-future-of-videography</a:t>
            </a:r>
          </a:p>
          <a:p>
            <a:pPr algn="l">
              <a:lnSpc>
                <a:spcPts val="223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68" y="-9068"/>
            <a:ext cx="9794943" cy="7342109"/>
          </a:xfrm>
          <a:custGeom>
            <a:avLst/>
            <a:gdLst/>
            <a:ahLst/>
            <a:cxnLst/>
            <a:rect r="r" b="b" t="t" l="l"/>
            <a:pathLst>
              <a:path h="7342109" w="9794943">
                <a:moveTo>
                  <a:pt x="0" y="0"/>
                </a:moveTo>
                <a:lnTo>
                  <a:pt x="9794943" y="0"/>
                </a:lnTo>
                <a:lnTo>
                  <a:pt x="9794943" y="7342109"/>
                </a:lnTo>
                <a:lnTo>
                  <a:pt x="0" y="73421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27420" y="2962024"/>
            <a:ext cx="8787722" cy="1222755"/>
            <a:chOff x="0" y="0"/>
            <a:chExt cx="11716963" cy="16303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716962" cy="1630340"/>
            </a:xfrm>
            <a:custGeom>
              <a:avLst/>
              <a:gdLst/>
              <a:ahLst/>
              <a:cxnLst/>
              <a:rect r="r" b="b" t="t" l="l"/>
              <a:pathLst>
                <a:path h="1630340" w="11716962">
                  <a:moveTo>
                    <a:pt x="0" y="0"/>
                  </a:moveTo>
                  <a:lnTo>
                    <a:pt x="11716962" y="0"/>
                  </a:lnTo>
                  <a:lnTo>
                    <a:pt x="11716962" y="1630340"/>
                  </a:lnTo>
                  <a:lnTo>
                    <a:pt x="0" y="1630340"/>
                  </a:lnTo>
                  <a:close/>
                </a:path>
              </a:pathLst>
            </a:custGeom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716963" cy="166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2"/>
                </a:lnSpc>
              </a:pPr>
              <a:r>
                <a:rPr lang="en-US" b="true" sz="3487" spc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Thank You...!!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DAGt_GS3zDk</dc:identifier>
  <dcterms:modified xsi:type="dcterms:W3CDTF">2011-08-01T06:04:30Z</dcterms:modified>
  <cp:revision>1</cp:revision>
  <dc:title>SE Mini Project Review -1 Presentation_Template.ppt</dc:title>
</cp:coreProperties>
</file>